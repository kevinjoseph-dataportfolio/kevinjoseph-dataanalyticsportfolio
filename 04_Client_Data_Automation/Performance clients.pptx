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14" r:id="rId5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68" d="100"/>
          <a:sy n="68" d="100"/>
        </p:scale>
        <p:origin x="1190" y="27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267DB71-DB19-4AF0-9D82-D75B6B130E06}" type="datetime1">
              <a:rPr lang="fr-FR" smtClean="0"/>
              <a:t>06/10/2025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2F39E9-50F1-4AFC-B15A-332AA8C30EAE}" type="datetime1">
              <a:rPr lang="fr-FR" smtClean="0"/>
              <a:pPr/>
              <a:t>06/10/2025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position personnalisé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’image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6" name="Hexagone 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4" name="Hexagone 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Hexagone 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8" name="Hexagone 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Hexagone 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modifier le masque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fr-FR" noProof="0"/>
              <a:t>Cliquez pour modifier le texte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sposition personnalisé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’image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" name="Rectangle 1" descr="Vue vers le haut d’un grand immeuble de bureaux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fr-FR" noProof="0"/>
              <a:t>Cliquez pour modifier le texte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modifier le masque</a:t>
            </a:r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Disposition personnalisé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’image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3" name="Ovale 2" descr="Vue vers le haut d’un grand immeuble de bureaux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Espace réservé du texte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fr-FR" noProof="0"/>
              <a:t>Cliquez pour modifier le texte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1" name="Rectangle 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masque</a:t>
            </a:r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e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accent5"/>
              </a:solidFill>
            </a:endParaRP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accent5"/>
              </a:solidFill>
            </a:endParaRP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accent5"/>
              </a:solidFill>
            </a:endParaRPr>
          </a:p>
        </p:txBody>
      </p:sp>
      <p:sp>
        <p:nvSpPr>
          <p:cNvPr id="23" name="Espace réservé d’image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masque</a:t>
            </a:r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endParaRPr lang="fr-FR" noProof="0"/>
          </a:p>
        </p:txBody>
      </p:sp>
      <p:sp>
        <p:nvSpPr>
          <p:cNvPr id="15" name="Hexagone 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Hexagone 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7" name="Hexagone 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8" name="Hexagone 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9" name="Espace réservé d’image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Espace réservé d’image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38" name="Espace réservé d’image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40" name="Espace réservé d’image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41" name="Espace réservé d’image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fr-FR" sz="4800" b="1" noProof="0">
                <a:solidFill>
                  <a:schemeClr val="tx1"/>
                </a:solidFill>
              </a:rPr>
              <a:t>Modifiez le style du titre</a:t>
            </a:r>
          </a:p>
        </p:txBody>
      </p:sp>
      <p:sp>
        <p:nvSpPr>
          <p:cNvPr id="9" name="Hexagone 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Hexagone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Hexagone 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24" name="Espace réservé du texte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27" name="Espace réservé du texte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28" name="Espace réservé du texte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29" name="Espace réservé du texte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30" name="Espace réservé du texte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31" name="Espace réservé du texte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32" name="Espace réservé du texte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33" name="Espace réservé du texte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34" name="Espace réservé du texte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37" name="Espace réservé d’image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capitula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space réservé du contenu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</p:txBody>
      </p:sp>
      <p:sp>
        <p:nvSpPr>
          <p:cNvPr id="41" name="Espace réservé du contenu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</p:txBody>
      </p:sp>
      <p:sp>
        <p:nvSpPr>
          <p:cNvPr id="42" name="Espace réservé du contenu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</p:txBody>
      </p:sp>
      <p:sp>
        <p:nvSpPr>
          <p:cNvPr id="43" name="Espace réservé du contenu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</p:txBody>
      </p:sp>
      <p:sp>
        <p:nvSpPr>
          <p:cNvPr id="44" name="Espace réservé du contenu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</p:txBody>
      </p:sp>
      <p:sp>
        <p:nvSpPr>
          <p:cNvPr id="45" name="Espace réservé du contenu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fr-FR" sz="4800" b="1" noProof="0">
                <a:solidFill>
                  <a:schemeClr val="tx1"/>
                </a:solidFill>
              </a:rPr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de deux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accent5"/>
              </a:solidFill>
            </a:endParaRP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accent5"/>
              </a:solidFill>
            </a:endParaRPr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accent5"/>
              </a:solidFill>
            </a:endParaRP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9" name="Espace réservé du texte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30" name="Espace réservé du texte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masque</a:t>
            </a:r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de trois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9" name="Espace réservé du texte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30" name="Espace réservé du texte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1" name="Espace réservé du texte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2" name="Espace réservé du texte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3" name="Hexagone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Hexagone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accent1"/>
              </a:solidFill>
            </a:endParaRPr>
          </a:p>
        </p:txBody>
      </p:sp>
      <p:sp>
        <p:nvSpPr>
          <p:cNvPr id="5" name="Hexagone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accent1"/>
              </a:solidFill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masque</a:t>
            </a:r>
          </a:p>
        </p:txBody>
      </p:sp>
      <p:sp>
        <p:nvSpPr>
          <p:cNvPr id="16" name="Forme libre : Forme 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rme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e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endParaRPr lang="fr-FR" noProof="0"/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endParaRPr lang="fr-FR" noProof="0"/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pour modifier le masque</a:t>
            </a:r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10B79C5F-C59D-45DB-B34D-EB25A04E20A3}" type="datetime1">
              <a:rPr lang="fr-FR" sz="1100" noProof="0" smtClean="0">
                <a:solidFill>
                  <a:schemeClr val="accent2"/>
                </a:solidFill>
              </a:rPr>
              <a:t>06/10/2025</a:t>
            </a:fld>
            <a:endParaRPr lang="fr-FR" sz="1100" noProof="0">
              <a:solidFill>
                <a:schemeClr val="accent2"/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1100" b="1" noProof="0">
                <a:solidFill>
                  <a:schemeClr val="accent2"/>
                </a:solidFill>
              </a:rPr>
              <a:t>Rapport annuel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fld id="{2C18C1E5-FB55-42F5-BD6D-9CC153FCDBE6}" type="slidenum">
              <a:rPr lang="fr-FR" sz="1100" noProof="0" smtClean="0">
                <a:solidFill>
                  <a:schemeClr val="accent4"/>
                </a:solidFill>
              </a:rPr>
              <a:pPr algn="r" rtl="0"/>
              <a:t>‹N°›</a:t>
            </a:fld>
            <a:endParaRPr lang="fr-FR" sz="1100" noProof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187124A4-A978-306C-38CF-E4F2BE2401C1}"/>
              </a:ext>
            </a:extLst>
          </p:cNvPr>
          <p:cNvSpPr/>
          <p:nvPr/>
        </p:nvSpPr>
        <p:spPr>
          <a:xfrm>
            <a:off x="532422" y="1759903"/>
            <a:ext cx="5610578" cy="355099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EA2DD0B9-7DA2-B44D-C28B-295ADA9612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711" y="1867472"/>
            <a:ext cx="5080000" cy="438150"/>
          </a:xfrm>
        </p:spPr>
        <p:txBody>
          <a:bodyPr/>
          <a:lstStyle/>
          <a:p>
            <a:pPr algn="ctr"/>
            <a:r>
              <a:rPr lang="fr-FR" dirty="0"/>
              <a:t>Chiffres clés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128505D-1406-28C1-9F0A-2C2F2FF58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1527" y="2551120"/>
            <a:ext cx="5067300" cy="2935288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	</a:t>
            </a:r>
            <a:r>
              <a:rPr lang="fr-FR" b="1" dirty="0">
                <a:solidFill>
                  <a:srgbClr val="00B050"/>
                </a:solidFill>
              </a:rPr>
              <a:t>1 859 </a:t>
            </a:r>
            <a:r>
              <a:rPr lang="fr-FR" dirty="0"/>
              <a:t>clients actifs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/>
              <a:t>	</a:t>
            </a:r>
            <a:r>
              <a:rPr lang="fr-FR" b="1" dirty="0">
                <a:solidFill>
                  <a:srgbClr val="00B050"/>
                </a:solidFill>
              </a:rPr>
              <a:t>924 834 € </a:t>
            </a:r>
            <a:r>
              <a:rPr lang="fr-FR" dirty="0"/>
              <a:t>de revenus cumulés</a:t>
            </a:r>
          </a:p>
          <a:p>
            <a:pPr marL="0" indent="0">
              <a:buNone/>
            </a:pPr>
            <a:r>
              <a:rPr lang="fr-FR" b="1" dirty="0"/>
              <a:t>	</a:t>
            </a:r>
          </a:p>
          <a:p>
            <a:pPr marL="0" indent="0">
              <a:buNone/>
            </a:pPr>
            <a:r>
              <a:rPr lang="fr-FR" b="1" dirty="0"/>
              <a:t>	</a:t>
            </a:r>
            <a:r>
              <a:rPr lang="fr-FR" b="1" dirty="0">
                <a:solidFill>
                  <a:srgbClr val="00B050"/>
                </a:solidFill>
              </a:rPr>
              <a:t>511 € </a:t>
            </a:r>
            <a:r>
              <a:rPr lang="fr-FR" dirty="0"/>
              <a:t>de panier moyen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027C4135-06DC-3436-6B48-4E1D93CF708E}"/>
              </a:ext>
            </a:extLst>
          </p:cNvPr>
          <p:cNvSpPr/>
          <p:nvPr/>
        </p:nvSpPr>
        <p:spPr>
          <a:xfrm>
            <a:off x="6511300" y="1635058"/>
            <a:ext cx="5067299" cy="27845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6FA0C21-801A-E62C-6C62-15C68E0A88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04560" y="1867472"/>
            <a:ext cx="5080000" cy="438150"/>
          </a:xfrm>
        </p:spPr>
        <p:txBody>
          <a:bodyPr/>
          <a:lstStyle/>
          <a:p>
            <a:r>
              <a:rPr lang="fr-FR" dirty="0"/>
              <a:t>Insights stratégiques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4673DEF5-FC52-5FBB-2B07-8CBC03CF57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17260" y="2285546"/>
            <a:ext cx="5067300" cy="194424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Revenu concentré sur </a:t>
            </a:r>
            <a:r>
              <a:rPr lang="fr-FR" b="1" dirty="0"/>
              <a:t>20% </a:t>
            </a:r>
            <a:r>
              <a:rPr lang="fr-FR" dirty="0"/>
              <a:t>de clients premium (~ 70% du CA)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Fort potentiel d’augmentation du panier moyen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Base stable mais hétérogène → valoriser plutôt qu’acquérir</a:t>
            </a:r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02E80FBB-7737-617E-8E99-368DD7F0E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22" y="764972"/>
            <a:ext cx="11046170" cy="830997"/>
          </a:xfrm>
        </p:spPr>
        <p:txBody>
          <a:bodyPr/>
          <a:lstStyle/>
          <a:p>
            <a:pPr algn="ctr"/>
            <a:r>
              <a:rPr lang="fr-FR" sz="3000" dirty="0"/>
              <a:t>Performance clients – Synthèse stratégique &amp; leviers de croissance 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BBEEC5BD-5F31-A701-E497-9DB4F9C25184}"/>
              </a:ext>
            </a:extLst>
          </p:cNvPr>
          <p:cNvGrpSpPr/>
          <p:nvPr/>
        </p:nvGrpSpPr>
        <p:grpSpPr>
          <a:xfrm>
            <a:off x="648826" y="2373566"/>
            <a:ext cx="708026" cy="2291906"/>
            <a:chOff x="647699" y="2495968"/>
            <a:chExt cx="708026" cy="2291906"/>
          </a:xfrm>
        </p:grpSpPr>
        <p:pic>
          <p:nvPicPr>
            <p:cNvPr id="18" name="Graphique 17" descr="Réunion avec un remplissage uni">
              <a:extLst>
                <a:ext uri="{FF2B5EF4-FFF2-40B4-BE49-F238E27FC236}">
                  <a16:creationId xmlns:a16="http://schemas.microsoft.com/office/drawing/2014/main" id="{723FFAF7-08DF-4748-16AA-AB2A3F18A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00" y="2495968"/>
              <a:ext cx="695325" cy="695325"/>
            </a:xfrm>
            <a:prstGeom prst="rect">
              <a:avLst/>
            </a:prstGeom>
          </p:spPr>
        </p:pic>
        <p:pic>
          <p:nvPicPr>
            <p:cNvPr id="20" name="Graphique 19" descr="Pièces avec un remplissage uni">
              <a:extLst>
                <a:ext uri="{FF2B5EF4-FFF2-40B4-BE49-F238E27FC236}">
                  <a16:creationId xmlns:a16="http://schemas.microsoft.com/office/drawing/2014/main" id="{69C90375-4A81-0F64-329C-02FF48CD3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7700" y="3319045"/>
              <a:ext cx="695325" cy="695325"/>
            </a:xfrm>
            <a:prstGeom prst="rect">
              <a:avLst/>
            </a:prstGeom>
          </p:spPr>
        </p:pic>
        <p:pic>
          <p:nvPicPr>
            <p:cNvPr id="22" name="Graphique 21" descr="Carte bancaire avec un remplissage uni">
              <a:extLst>
                <a:ext uri="{FF2B5EF4-FFF2-40B4-BE49-F238E27FC236}">
                  <a16:creationId xmlns:a16="http://schemas.microsoft.com/office/drawing/2014/main" id="{DCF68CD6-98CC-54FD-C13C-D352BCAA6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7699" y="4092548"/>
              <a:ext cx="695326" cy="695326"/>
            </a:xfrm>
            <a:prstGeom prst="rect">
              <a:avLst/>
            </a:prstGeom>
          </p:spPr>
        </p:pic>
      </p:grp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71C2972-4235-AE4D-3006-E75A18BA77DA}"/>
              </a:ext>
            </a:extLst>
          </p:cNvPr>
          <p:cNvCxnSpPr>
            <a:cxnSpLocks/>
          </p:cNvCxnSpPr>
          <p:nvPr/>
        </p:nvCxnSpPr>
        <p:spPr>
          <a:xfrm>
            <a:off x="6297329" y="1507736"/>
            <a:ext cx="0" cy="470353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Espace réservé du texte 13">
            <a:extLst>
              <a:ext uri="{FF2B5EF4-FFF2-40B4-BE49-F238E27FC236}">
                <a16:creationId xmlns:a16="http://schemas.microsoft.com/office/drawing/2014/main" id="{A7B138BF-FBC4-39FE-C710-DC63018885C2}"/>
              </a:ext>
            </a:extLst>
          </p:cNvPr>
          <p:cNvSpPr txBox="1">
            <a:spLocks/>
          </p:cNvSpPr>
          <p:nvPr/>
        </p:nvSpPr>
        <p:spPr>
          <a:xfrm>
            <a:off x="6617260" y="4515056"/>
            <a:ext cx="5080000" cy="438150"/>
          </a:xfrm>
          <a:prstGeom prst="rect">
            <a:avLst/>
          </a:prstGeom>
        </p:spPr>
        <p:txBody>
          <a:bodyPr rtlCol="0"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Priorités</a:t>
            </a:r>
          </a:p>
        </p:txBody>
      </p:sp>
      <p:sp>
        <p:nvSpPr>
          <p:cNvPr id="33" name="Espace réservé du texte 14">
            <a:extLst>
              <a:ext uri="{FF2B5EF4-FFF2-40B4-BE49-F238E27FC236}">
                <a16:creationId xmlns:a16="http://schemas.microsoft.com/office/drawing/2014/main" id="{3D6B9A00-64E5-0371-9385-936B576AEEF8}"/>
              </a:ext>
            </a:extLst>
          </p:cNvPr>
          <p:cNvSpPr txBox="1">
            <a:spLocks/>
          </p:cNvSpPr>
          <p:nvPr/>
        </p:nvSpPr>
        <p:spPr>
          <a:xfrm>
            <a:off x="6629960" y="4962428"/>
            <a:ext cx="5067300" cy="1223693"/>
          </a:xfrm>
          <a:prstGeom prst="rect">
            <a:avLst/>
          </a:prstGeom>
        </p:spPr>
        <p:txBody>
          <a:bodyPr rtlCol="0"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fr-FR" dirty="0">
                <a:solidFill>
                  <a:schemeClr val="accent4"/>
                </a:solidFill>
              </a:rPr>
              <a:t>Fidéliser les clients premium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>
                <a:solidFill>
                  <a:schemeClr val="accent4"/>
                </a:solidFill>
              </a:rPr>
              <a:t>Activer les petits comptes dormants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>
                <a:solidFill>
                  <a:schemeClr val="accent4"/>
                </a:solidFill>
              </a:rPr>
              <a:t>Equilibrer le portefeuille clients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D68A856F-F210-1505-66B1-2DC38573ACEE}"/>
              </a:ext>
            </a:extLst>
          </p:cNvPr>
          <p:cNvSpPr txBox="1"/>
          <p:nvPr/>
        </p:nvSpPr>
        <p:spPr>
          <a:xfrm>
            <a:off x="636126" y="6280028"/>
            <a:ext cx="11104317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FR" dirty="0"/>
              <a:t>Le pilotage du chiffre d’affaires doit désormais s’appuyer sur la </a:t>
            </a:r>
            <a:r>
              <a:rPr lang="fr-FR" b="1" dirty="0"/>
              <a:t>valorisation interne</a:t>
            </a:r>
            <a:r>
              <a:rPr lang="fr-FR" dirty="0"/>
              <a:t>, pas sur l’acquisition.</a:t>
            </a:r>
          </a:p>
        </p:txBody>
      </p:sp>
    </p:spTree>
    <p:extLst>
      <p:ext uri="{BB962C8B-B14F-4D97-AF65-F5344CB8AC3E}">
        <p14:creationId xmlns:p14="http://schemas.microsoft.com/office/powerpoint/2010/main" val="36416100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49603249_TF16411253_Win32.potx" id="{423166B2-1A75-4473-8A7D-47F3572BAD85}" vid="{72A791F0-149C-4EE6-AC12-84C7AB5595D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géométrique</Template>
  <TotalTime>30</TotalTime>
  <Words>91</Words>
  <Application>Microsoft Office PowerPoint</Application>
  <PresentationFormat>Grand écran</PresentationFormat>
  <Paragraphs>16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Wingdings</vt:lpstr>
      <vt:lpstr>Thème Office</vt:lpstr>
      <vt:lpstr>Performance clients – Synthèse stratégique &amp; leviers de croissance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Kévin Joseph</dc:creator>
  <cp:lastModifiedBy>Kévin Joseph</cp:lastModifiedBy>
  <cp:revision>3</cp:revision>
  <dcterms:created xsi:type="dcterms:W3CDTF">2025-10-06T08:23:51Z</dcterms:created>
  <dcterms:modified xsi:type="dcterms:W3CDTF">2025-10-06T08:53:54Z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